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6" roundtripDataSignature="AMtx7mj7UHhWk/hCxX4aZZOGKxLoxBsZ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36" Type="http://customschemas.google.com/relationships/presentationmetadata" Target="meta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sl-SI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3"/>
          <p:cNvSpPr txBox="1"/>
          <p:nvPr>
            <p:ph type="ctrTitle"/>
          </p:nvPr>
        </p:nvSpPr>
        <p:spPr>
          <a:xfrm>
            <a:off x="1524000" y="1472183"/>
            <a:ext cx="9144000" cy="203777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6000"/>
              <a:buFont typeface="Arial"/>
              <a:buNone/>
              <a:defRPr sz="6000">
                <a:solidFill>
                  <a:srgbClr val="58595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8595B"/>
              </a:buClr>
              <a:buSzPts val="2000"/>
              <a:buNone/>
              <a:defRPr sz="20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8595B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8595B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8595B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8595B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9" name="Google Shape;19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l-S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03127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4"/>
          <p:cNvSpPr txBox="1"/>
          <p:nvPr>
            <p:ph idx="1" type="body"/>
          </p:nvPr>
        </p:nvSpPr>
        <p:spPr>
          <a:xfrm>
            <a:off x="5183188" y="1412240"/>
            <a:ext cx="6172200" cy="4448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8595B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8595B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8595B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8595B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8595B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4" name="Google Shape;24;p3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8595B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8595B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8595B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8595B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8595B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5" name="Google Shape;25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l-S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5"/>
          <p:cNvSpPr txBox="1"/>
          <p:nvPr>
            <p:ph type="title"/>
          </p:nvPr>
        </p:nvSpPr>
        <p:spPr>
          <a:xfrm>
            <a:off x="836612" y="355600"/>
            <a:ext cx="7928292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03127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5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8595B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8595B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8595B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8595B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8595B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0" name="Google Shape;30;p35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8595B"/>
              </a:buClr>
              <a:buSzPts val="2800"/>
              <a:buChar char="•"/>
              <a:defRPr/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8595B"/>
              </a:buClr>
              <a:buSzPts val="2400"/>
              <a:buChar char="•"/>
              <a:defRPr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8595B"/>
              </a:buClr>
              <a:buSzPts val="20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35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8595B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8595B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8595B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8595B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8595B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2" name="Google Shape;32;p35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8595B"/>
              </a:buClr>
              <a:buSzPts val="2800"/>
              <a:buChar char="•"/>
              <a:defRPr/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8595B"/>
              </a:buClr>
              <a:buSzPts val="2400"/>
              <a:buChar char="•"/>
              <a:defRPr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8595B"/>
              </a:buClr>
              <a:buSzPts val="20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l-S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6"/>
          <p:cNvSpPr txBox="1"/>
          <p:nvPr>
            <p:ph type="title"/>
          </p:nvPr>
        </p:nvSpPr>
        <p:spPr>
          <a:xfrm>
            <a:off x="838200" y="328549"/>
            <a:ext cx="77724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03127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8595B"/>
              </a:buClr>
              <a:buSzPts val="2800"/>
              <a:buChar char="•"/>
              <a:defRPr/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8595B"/>
              </a:buClr>
              <a:buSzPts val="2400"/>
              <a:buChar char="•"/>
              <a:defRPr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8595B"/>
              </a:buClr>
              <a:buSzPts val="20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3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8595B"/>
              </a:buClr>
              <a:buSzPts val="2800"/>
              <a:buChar char="•"/>
              <a:defRPr/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8595B"/>
              </a:buClr>
              <a:buSzPts val="2400"/>
              <a:buChar char="•"/>
              <a:defRPr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8595B"/>
              </a:buClr>
              <a:buSzPts val="20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l-S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7"/>
          <p:cNvSpPr txBox="1"/>
          <p:nvPr>
            <p:ph type="title"/>
          </p:nvPr>
        </p:nvSpPr>
        <p:spPr>
          <a:xfrm>
            <a:off x="838200" y="328549"/>
            <a:ext cx="77724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03127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7"/>
          <p:cNvSpPr txBox="1"/>
          <p:nvPr>
            <p:ph idx="1" type="body"/>
          </p:nvPr>
        </p:nvSpPr>
        <p:spPr>
          <a:xfrm>
            <a:off x="838200" y="186220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8595B"/>
              </a:buClr>
              <a:buSzPts val="2800"/>
              <a:buChar char="•"/>
              <a:defRPr/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8595B"/>
              </a:buClr>
              <a:buSzPts val="2400"/>
              <a:buChar char="•"/>
              <a:defRPr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8595B"/>
              </a:buClr>
              <a:buSzPts val="20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l-S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03127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8"/>
          <p:cNvSpPr/>
          <p:nvPr>
            <p:ph idx="2" type="pic"/>
          </p:nvPr>
        </p:nvSpPr>
        <p:spPr>
          <a:xfrm>
            <a:off x="5183188" y="1493520"/>
            <a:ext cx="6172200" cy="4367530"/>
          </a:xfrm>
          <a:prstGeom prst="rect">
            <a:avLst/>
          </a:prstGeom>
          <a:noFill/>
          <a:ln>
            <a:noFill/>
          </a:ln>
        </p:spPr>
      </p:sp>
      <p:sp>
        <p:nvSpPr>
          <p:cNvPr id="49" name="Google Shape;49;p3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8595B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8595B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8595B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8595B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8595B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0" name="Google Shape;50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Google Shape;52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l-S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03127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6" name="Google Shape;56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l-S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0"/>
          <p:cNvSpPr txBox="1"/>
          <p:nvPr>
            <p:ph type="title"/>
          </p:nvPr>
        </p:nvSpPr>
        <p:spPr>
          <a:xfrm>
            <a:off x="838200" y="328549"/>
            <a:ext cx="77724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03127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l-S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l-S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2"/>
          <p:cNvSpPr txBox="1"/>
          <p:nvPr>
            <p:ph type="title"/>
          </p:nvPr>
        </p:nvSpPr>
        <p:spPr>
          <a:xfrm>
            <a:off x="838200" y="328549"/>
            <a:ext cx="77724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03127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42"/>
          <p:cNvSpPr txBox="1"/>
          <p:nvPr>
            <p:ph idx="1" type="body"/>
          </p:nvPr>
        </p:nvSpPr>
        <p:spPr>
          <a:xfrm rot="5400000">
            <a:off x="3920331" y="-1219930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8595B"/>
              </a:buClr>
              <a:buSzPts val="2800"/>
              <a:buChar char="•"/>
              <a:defRPr/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8595B"/>
              </a:buClr>
              <a:buSzPts val="2400"/>
              <a:buChar char="•"/>
              <a:defRPr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8595B"/>
              </a:buClr>
              <a:buSzPts val="20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l-S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3"/>
          <p:cNvSpPr txBox="1"/>
          <p:nvPr>
            <p:ph type="title"/>
          </p:nvPr>
        </p:nvSpPr>
        <p:spPr>
          <a:xfrm rot="5400000">
            <a:off x="7651909" y="2475071"/>
            <a:ext cx="4774882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03127"/>
              </a:buClr>
              <a:buSzPts val="44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8595B"/>
              </a:buClr>
              <a:buSzPts val="2800"/>
              <a:buChar char="•"/>
              <a:defRPr/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8595B"/>
              </a:buClr>
              <a:buSzPts val="2400"/>
              <a:buChar char="•"/>
              <a:defRPr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8595B"/>
              </a:buClr>
              <a:buSzPts val="20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4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4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l-SI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2"/>
          <p:cNvSpPr txBox="1"/>
          <p:nvPr>
            <p:ph type="title"/>
          </p:nvPr>
        </p:nvSpPr>
        <p:spPr>
          <a:xfrm>
            <a:off x="838200" y="328549"/>
            <a:ext cx="77724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03127"/>
              </a:buClr>
              <a:buSzPts val="4400"/>
              <a:buFont typeface="Arial"/>
              <a:buNone/>
              <a:defRPr b="0" i="0" sz="4400" u="none" cap="none" strike="noStrike">
                <a:solidFill>
                  <a:srgbClr val="E03127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32"/>
          <p:cNvSpPr txBox="1"/>
          <p:nvPr>
            <p:ph idx="1" type="body"/>
          </p:nvPr>
        </p:nvSpPr>
        <p:spPr>
          <a:xfrm>
            <a:off x="838200" y="186220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8595B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58595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8595B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58595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8595B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58595B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8595B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58595B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8595B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58595B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58595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58595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58595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58595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58595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58595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58595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58595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58595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58595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l-SI"/>
              <a:t>‹#›</a:t>
            </a:fld>
            <a:endParaRPr/>
          </a:p>
        </p:txBody>
      </p:sp>
      <p:cxnSp>
        <p:nvCxnSpPr>
          <p:cNvPr id="14" name="Google Shape;14;p32"/>
          <p:cNvCxnSpPr/>
          <p:nvPr/>
        </p:nvCxnSpPr>
        <p:spPr>
          <a:xfrm>
            <a:off x="0" y="6333681"/>
            <a:ext cx="12192000" cy="0"/>
          </a:xfrm>
          <a:prstGeom prst="straightConnector1">
            <a:avLst/>
          </a:prstGeom>
          <a:noFill/>
          <a:ln cap="flat" cmpd="sng" w="19050">
            <a:solidFill>
              <a:srgbClr val="58595B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5" name="Google Shape;15;p32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610600" y="-36575"/>
            <a:ext cx="3044677" cy="172105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2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Relationship Id="rId4" Type="http://schemas.openxmlformats.org/officeDocument/2006/relationships/image" Target="../media/image7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2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3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2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png"/><Relationship Id="rId4" Type="http://schemas.openxmlformats.org/officeDocument/2006/relationships/image" Target="../media/image1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2.png"/><Relationship Id="rId4" Type="http://schemas.openxmlformats.org/officeDocument/2006/relationships/image" Target="../media/image3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7.png"/><Relationship Id="rId4" Type="http://schemas.openxmlformats.org/officeDocument/2006/relationships/image" Target="../media/image3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8.png"/><Relationship Id="rId4" Type="http://schemas.openxmlformats.org/officeDocument/2006/relationships/image" Target="../media/image2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4.png"/><Relationship Id="rId4" Type="http://schemas.openxmlformats.org/officeDocument/2006/relationships/image" Target="../media/image3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5.png"/><Relationship Id="rId4" Type="http://schemas.openxmlformats.org/officeDocument/2006/relationships/image" Target="../media/image2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3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1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4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4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2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"/>
          <p:cNvSpPr txBox="1"/>
          <p:nvPr>
            <p:ph type="ctrTitle"/>
          </p:nvPr>
        </p:nvSpPr>
        <p:spPr>
          <a:xfrm>
            <a:off x="1" y="2408953"/>
            <a:ext cx="12191999" cy="17371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6000"/>
              <a:buFont typeface="Times New Roman"/>
              <a:buNone/>
            </a:pPr>
            <a:r>
              <a:rPr lang="sl-SI">
                <a:latin typeface="Times New Roman"/>
                <a:ea typeface="Times New Roman"/>
                <a:cs typeface="Times New Roman"/>
                <a:sym typeface="Times New Roman"/>
              </a:rPr>
              <a:t>Zaznavanje in manipulacija deformabilnih objektov z robotom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" name="Google Shape;81;p1"/>
          <p:cNvSpPr txBox="1"/>
          <p:nvPr>
            <p:ph idx="1" type="subTitle"/>
          </p:nvPr>
        </p:nvSpPr>
        <p:spPr>
          <a:xfrm>
            <a:off x="1577386" y="5327661"/>
            <a:ext cx="9144000" cy="4898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2000"/>
              <a:buNone/>
            </a:pPr>
            <a:r>
              <a:rPr lang="sl-SI"/>
              <a:t>Stojan Budjak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/>
          <p:nvPr/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rgbClr val="3C5C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2"/>
          <p:cNvSpPr txBox="1"/>
          <p:nvPr>
            <p:ph idx="10" type="dt"/>
          </p:nvPr>
        </p:nvSpPr>
        <p:spPr>
          <a:xfrm>
            <a:off x="8047083" y="6356350"/>
            <a:ext cx="25567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sl-SI">
                <a:solidFill>
                  <a:srgbClr val="888888"/>
                </a:solidFill>
              </a:rPr>
              <a:t>6.09.2024</a:t>
            </a:r>
            <a:endParaRPr/>
          </a:p>
        </p:txBody>
      </p:sp>
      <p:pic>
        <p:nvPicPr>
          <p:cNvPr descr="A machine with different types of bread&#10;&#10;Description automatically generated" id="88" name="Google Shape;88;p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30825" y="1368219"/>
            <a:ext cx="8151658" cy="494457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2"/>
          <p:cNvSpPr txBox="1"/>
          <p:nvPr/>
        </p:nvSpPr>
        <p:spPr>
          <a:xfrm>
            <a:off x="840130" y="57866"/>
            <a:ext cx="2886918" cy="1064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imes New Roman"/>
              <a:buNone/>
            </a:pPr>
            <a:r>
              <a:rPr b="0" i="0" lang="sl-SI" sz="28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Robotizacija</a:t>
            </a:r>
            <a:endParaRPr b="0" i="0" sz="2800" u="none" cap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imes New Roman"/>
              <a:buNone/>
            </a:pPr>
            <a:r>
              <a:rPr b="0" i="0" lang="sl-SI" sz="28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avtomatizacija</a:t>
            </a:r>
            <a:endParaRPr b="0" i="0" sz="2800" u="none" cap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2"/>
          <p:cNvSpPr txBox="1"/>
          <p:nvPr/>
        </p:nvSpPr>
        <p:spPr>
          <a:xfrm>
            <a:off x="833398" y="1618606"/>
            <a:ext cx="2412358" cy="644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imes New Roman"/>
              <a:buNone/>
            </a:pPr>
            <a:r>
              <a:rPr b="0" i="0" lang="sl-SI" sz="28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prehrambena industrija</a:t>
            </a:r>
            <a:endParaRPr b="0" i="0" sz="2800" u="none" cap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03127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03127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2"/>
          <p:cNvSpPr txBox="1"/>
          <p:nvPr/>
        </p:nvSpPr>
        <p:spPr>
          <a:xfrm>
            <a:off x="809580" y="2110761"/>
            <a:ext cx="2840182" cy="5996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imes New Roman"/>
              <a:buNone/>
            </a:pPr>
            <a:r>
              <a:rPr b="0" i="0" lang="sl-SI" sz="28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pripravo kruha</a:t>
            </a:r>
            <a:endParaRPr b="0" i="0" sz="2800" u="none" cap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2"/>
          <p:cNvSpPr txBox="1"/>
          <p:nvPr/>
        </p:nvSpPr>
        <p:spPr>
          <a:xfrm>
            <a:off x="214604" y="3834881"/>
            <a:ext cx="317106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sl-SI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Natančno doziranje in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l-SI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mešanje osnovnih sestavin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2"/>
          <p:cNvSpPr txBox="1"/>
          <p:nvPr/>
        </p:nvSpPr>
        <p:spPr>
          <a:xfrm>
            <a:off x="199054" y="4584441"/>
            <a:ext cx="326403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l-SI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Gnetenje → razvije glutena</a:t>
            </a:r>
            <a:endParaRPr/>
          </a:p>
        </p:txBody>
      </p:sp>
      <p:sp>
        <p:nvSpPr>
          <p:cNvPr id="94" name="Google Shape;94;p2"/>
          <p:cNvSpPr txBox="1"/>
          <p:nvPr/>
        </p:nvSpPr>
        <p:spPr>
          <a:xfrm>
            <a:off x="202163" y="5035421"/>
            <a:ext cx="527740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l-SI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</a:t>
            </a:r>
            <a:r>
              <a:rPr lang="sl-SI" sz="2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Zarezovanje krušnega testa in pripravo za peko</a:t>
            </a:r>
            <a:endParaRPr/>
          </a:p>
        </p:txBody>
      </p:sp>
      <p:sp>
        <p:nvSpPr>
          <p:cNvPr id="95" name="Google Shape;95;p2"/>
          <p:cNvSpPr txBox="1"/>
          <p:nvPr/>
        </p:nvSpPr>
        <p:spPr>
          <a:xfrm>
            <a:off x="205273" y="5523722"/>
            <a:ext cx="261802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l-SI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Krušno testo se pеče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822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 txBox="1"/>
          <p:nvPr>
            <p:ph type="title"/>
          </p:nvPr>
        </p:nvSpPr>
        <p:spPr>
          <a:xfrm>
            <a:off x="304177" y="286152"/>
            <a:ext cx="7928292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03127"/>
              </a:buClr>
              <a:buSzPts val="4800"/>
              <a:buFont typeface="Times New Roman"/>
              <a:buNone/>
            </a:pPr>
            <a:r>
              <a:rPr lang="sl-SI" sz="4800">
                <a:latin typeface="Times New Roman"/>
                <a:ea typeface="Times New Roman"/>
                <a:cs typeface="Times New Roman"/>
                <a:sym typeface="Times New Roman"/>
              </a:rPr>
              <a:t>Izbira ustrezne opreme</a:t>
            </a:r>
            <a:endParaRPr sz="4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" name="Google Shape;101;p3"/>
          <p:cNvSpPr txBox="1"/>
          <p:nvPr>
            <p:ph idx="1" type="body"/>
          </p:nvPr>
        </p:nvSpPr>
        <p:spPr>
          <a:xfrm>
            <a:off x="376801" y="1565413"/>
            <a:ext cx="574620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3200"/>
              <a:buNone/>
            </a:pPr>
            <a:r>
              <a:rPr lang="sl-SI" sz="3200">
                <a:latin typeface="Times New Roman"/>
                <a:ea typeface="Times New Roman"/>
                <a:cs typeface="Times New Roman"/>
                <a:sym typeface="Times New Roman"/>
              </a:rPr>
              <a:t>Robot UR5e, Universal Robots</a:t>
            </a:r>
            <a:endParaRPr/>
          </a:p>
        </p:txBody>
      </p:sp>
      <p:pic>
        <p:nvPicPr>
          <p:cNvPr id="102" name="Google Shape;102;p3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77" y="2361235"/>
            <a:ext cx="3495552" cy="3946967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3"/>
          <p:cNvSpPr txBox="1"/>
          <p:nvPr>
            <p:ph idx="3" type="body"/>
          </p:nvPr>
        </p:nvSpPr>
        <p:spPr>
          <a:xfrm>
            <a:off x="6970859" y="1576988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3200"/>
              <a:buNone/>
            </a:pPr>
            <a:r>
              <a:rPr lang="sl-SI" sz="3200">
                <a:latin typeface="Times New Roman"/>
                <a:ea typeface="Times New Roman"/>
                <a:cs typeface="Times New Roman"/>
                <a:sym typeface="Times New Roman"/>
              </a:rPr>
              <a:t>Ročna učna enota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4" name="Google Shape;104;p3"/>
          <p:cNvPicPr preferRelativeResize="0"/>
          <p:nvPr>
            <p:ph idx="4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28965" y="2769783"/>
            <a:ext cx="2601171" cy="2817936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l-SI"/>
              <a:t>6.09.2024</a:t>
            </a:r>
            <a:endParaRPr/>
          </a:p>
        </p:txBody>
      </p:sp>
      <p:sp>
        <p:nvSpPr>
          <p:cNvPr id="106" name="Google Shape;10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"/>
          <p:cNvSpPr txBox="1"/>
          <p:nvPr/>
        </p:nvSpPr>
        <p:spPr>
          <a:xfrm>
            <a:off x="2558004" y="3402957"/>
            <a:ext cx="3333509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l-SI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Masa: 18,4 kg.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l-SI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Doseg: 850 mm.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l-SI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Nosilnost: 5 kg.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l-SI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Ponovljivost: ± 0.03mm.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3"/>
          <p:cNvSpPr txBox="1"/>
          <p:nvPr/>
        </p:nvSpPr>
        <p:spPr>
          <a:xfrm>
            <a:off x="9896359" y="2941898"/>
            <a:ext cx="2083439" cy="3046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sl-SI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Omogoča učinkovito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l-SI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programiranje in nadzor robotskega manipulatorja</a:t>
            </a:r>
            <a:endParaRPr b="0" i="0"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sl-SI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/>
          <p:nvPr>
            <p:ph idx="1" type="body"/>
          </p:nvPr>
        </p:nvSpPr>
        <p:spPr>
          <a:xfrm>
            <a:off x="7034213" y="125195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3200"/>
              <a:buNone/>
            </a:pPr>
            <a:r>
              <a:rPr lang="sl-SI" sz="3200">
                <a:latin typeface="Times New Roman"/>
                <a:ea typeface="Times New Roman"/>
                <a:cs typeface="Times New Roman"/>
                <a:sym typeface="Times New Roman"/>
              </a:rPr>
              <a:t>Prijemalo tipa Hand-E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A close-up of a blue device&#10;&#10;Description automatically generated" id="114" name="Google Shape;114;p4"/>
          <p:cNvPicPr preferRelativeResize="0"/>
          <p:nvPr>
            <p:ph idx="4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900" y="1406781"/>
            <a:ext cx="3393936" cy="2974719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4"/>
          <p:cNvSpPr txBox="1"/>
          <p:nvPr>
            <p:ph idx="3" type="body"/>
          </p:nvPr>
        </p:nvSpPr>
        <p:spPr>
          <a:xfrm>
            <a:off x="133350" y="466725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3200"/>
              <a:buNone/>
            </a:pPr>
            <a:r>
              <a:rPr lang="sl-SI" sz="3200">
                <a:latin typeface="Times New Roman"/>
                <a:ea typeface="Times New Roman"/>
                <a:cs typeface="Times New Roman"/>
                <a:sym typeface="Times New Roman"/>
              </a:rPr>
              <a:t>Senzor Visionary-T, SICK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" name="Google Shape;11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l-SI"/>
              <a:t>6.09.2024</a:t>
            </a:r>
            <a:endParaRPr/>
          </a:p>
        </p:txBody>
      </p:sp>
      <p:sp>
        <p:nvSpPr>
          <p:cNvPr id="117" name="Google Shape;117;p4"/>
          <p:cNvSpPr txBox="1"/>
          <p:nvPr/>
        </p:nvSpPr>
        <p:spPr>
          <a:xfrm>
            <a:off x="1943100" y="4404443"/>
            <a:ext cx="4889232" cy="1846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l-SI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Ločljivost: 176 х 144 pisklov.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l-SI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Zajem slik: do 50 slik/s.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l-SI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Domet: od 0,5 m do 60 m.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l-SI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Hitrost prenosa podatkov: 60 Mbit/s.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black and silver mechanical device&#10;&#10;Description automatically generated" id="118" name="Google Shape;118;p4"/>
          <p:cNvPicPr preferRelativeResize="0"/>
          <p:nvPr>
            <p:ph idx="2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11199" y="2370367"/>
            <a:ext cx="1664180" cy="3110566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4"/>
          <p:cNvSpPr txBox="1"/>
          <p:nvPr/>
        </p:nvSpPr>
        <p:spPr>
          <a:xfrm>
            <a:off x="9062617" y="3156275"/>
            <a:ext cx="3129383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l-SI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Zasnovano za natančno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l-SI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zanesljivo rokovanje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l-SI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 orodij, kot je nož za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l-SI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zarezovanje testa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"/>
          <p:cNvSpPr txBox="1"/>
          <p:nvPr>
            <p:ph idx="1" type="body"/>
          </p:nvPr>
        </p:nvSpPr>
        <p:spPr>
          <a:xfrm>
            <a:off x="429239" y="1242624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3200"/>
              <a:buNone/>
            </a:pPr>
            <a:r>
              <a:rPr lang="sl-SI" sz="3200">
                <a:latin typeface="Times New Roman"/>
                <a:ea typeface="Times New Roman"/>
                <a:cs typeface="Times New Roman"/>
                <a:sym typeface="Times New Roman"/>
              </a:rPr>
              <a:t>Tekoči trak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" name="Google Shape;125;p5"/>
          <p:cNvSpPr txBox="1"/>
          <p:nvPr>
            <p:ph idx="3" type="body"/>
          </p:nvPr>
        </p:nvSpPr>
        <p:spPr>
          <a:xfrm>
            <a:off x="6797356" y="1242631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3200"/>
              <a:buNone/>
            </a:pPr>
            <a:r>
              <a:rPr lang="sl-SI" sz="3200">
                <a:latin typeface="Times New Roman"/>
                <a:ea typeface="Times New Roman"/>
                <a:cs typeface="Times New Roman"/>
                <a:sym typeface="Times New Roman"/>
              </a:rPr>
              <a:t>Laserski senzor, SICK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A close-up of a blue box&#10;&#10;Description automatically generated" id="126" name="Google Shape;126;p5"/>
          <p:cNvPicPr preferRelativeResize="0"/>
          <p:nvPr>
            <p:ph idx="4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82723" y="2349513"/>
            <a:ext cx="1159856" cy="242188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l-SI"/>
              <a:t>6.09.2024</a:t>
            </a:r>
            <a:endParaRPr/>
          </a:p>
        </p:txBody>
      </p:sp>
      <p:pic>
        <p:nvPicPr>
          <p:cNvPr descr="A blue and silver conveyor belt&#10;&#10;Description automatically generated" id="128" name="Google Shape;128;p5"/>
          <p:cNvPicPr preferRelativeResize="0"/>
          <p:nvPr>
            <p:ph idx="2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2672224"/>
            <a:ext cx="5157787" cy="3648876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5"/>
          <p:cNvSpPr txBox="1"/>
          <p:nvPr/>
        </p:nvSpPr>
        <p:spPr>
          <a:xfrm>
            <a:off x="2481944" y="2230017"/>
            <a:ext cx="3207929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l-SI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Zagotavlja nemoten in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l-SI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enakomeren prenos testa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l-SI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skozi celotnega procesa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" name="Google Shape;130;p5"/>
          <p:cNvSpPr txBox="1"/>
          <p:nvPr/>
        </p:nvSpPr>
        <p:spPr>
          <a:xfrm>
            <a:off x="6606073" y="4833257"/>
            <a:ext cx="4990469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l-SI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Domet zaznavanja: od 1 cm do 50 cm. 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l-SI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Razred zaščite IP67.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 flipH="1" rot="5400000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18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 rot="-54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rgbClr val="4472C4">
                  <a:alpha val="50196"/>
                </a:srgbClr>
              </a:gs>
              <a:gs pos="100000">
                <a:srgbClr val="1F3864">
                  <a:alpha val="0"/>
                </a:srgbClr>
              </a:gs>
            </a:gsLst>
            <a:lin ang="11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 flipH="1" rot="-5400000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8823"/>
                </a:srgbClr>
              </a:gs>
              <a:gs pos="69000">
                <a:srgbClr val="4472C4">
                  <a:alpha val="0"/>
                </a:srgbClr>
              </a:gs>
              <a:gs pos="100000">
                <a:srgbClr val="4472C4">
                  <a:alpha val="0"/>
                </a:srgbClr>
              </a:gs>
            </a:gsLst>
            <a:lin ang="13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 rot="6097846">
            <a:off x="-747355" y="1201312"/>
            <a:ext cx="4808302" cy="4088666"/>
          </a:xfrm>
          <a:custGeom>
            <a:rect b="b" l="l" r="r" t="t"/>
            <a:pathLst>
              <a:path extrusionOk="0" h="4088666" w="4808302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0">
                <a:srgbClr val="8DA9DB">
                  <a:alpha val="0"/>
                </a:srgbClr>
              </a:gs>
              <a:gs pos="39000">
                <a:srgbClr val="8DA9DB">
                  <a:alpha val="0"/>
                </a:srgbClr>
              </a:gs>
              <a:gs pos="100000">
                <a:srgbClr val="2F5496">
                  <a:alpha val="25882"/>
                </a:srgbClr>
              </a:gs>
            </a:gsLst>
            <a:lin ang="18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 txBox="1"/>
          <p:nvPr>
            <p:ph type="title"/>
          </p:nvPr>
        </p:nvSpPr>
        <p:spPr>
          <a:xfrm>
            <a:off x="660051" y="2767100"/>
            <a:ext cx="3041700" cy="30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sl-SI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Komunikacija</a:t>
            </a:r>
            <a:endParaRPr sz="4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diagram of a robot" id="141" name="Google Shape;141;p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52900" y="1276350"/>
            <a:ext cx="7953375" cy="460057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6"/>
          <p:cNvSpPr txBox="1"/>
          <p:nvPr>
            <p:ph idx="10" type="dt"/>
          </p:nvPr>
        </p:nvSpPr>
        <p:spPr>
          <a:xfrm>
            <a:off x="8970264" y="645566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sl-SI" sz="1100">
                <a:solidFill>
                  <a:srgbClr val="7F7F7F"/>
                </a:solidFill>
              </a:rPr>
              <a:t>6.09.2024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 flipH="1" rot="-5400000">
            <a:off x="2666617" y="-2666188"/>
            <a:ext cx="6858000" cy="12191233"/>
          </a:xfrm>
          <a:prstGeom prst="rect">
            <a:avLst/>
          </a:prstGeom>
          <a:gradFill>
            <a:gsLst>
              <a:gs pos="0">
                <a:schemeClr val="accent1"/>
              </a:gs>
              <a:gs pos="8000">
                <a:schemeClr val="accent1"/>
              </a:gs>
              <a:gs pos="100000">
                <a:srgbClr val="1F3864"/>
              </a:gs>
            </a:gsLst>
            <a:lin ang="120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 flipH="1" rot="10800000">
            <a:off x="-2311" y="0"/>
            <a:ext cx="9070846" cy="6857572"/>
          </a:xfrm>
          <a:prstGeom prst="rect">
            <a:avLst/>
          </a:prstGeom>
          <a:gradFill>
            <a:gsLst>
              <a:gs pos="0">
                <a:srgbClr val="000000">
                  <a:alpha val="52156"/>
                </a:srgbClr>
              </a:gs>
              <a:gs pos="8000">
                <a:srgbClr val="000000">
                  <a:alpha val="52156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 flipH="1" rot="-5400000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rgbClr val="9CC2E5">
                  <a:alpha val="0"/>
                </a:srgbClr>
              </a:gs>
              <a:gs pos="100000">
                <a:srgbClr val="000000">
                  <a:alpha val="45882"/>
                </a:srgbClr>
              </a:gs>
            </a:gsLst>
            <a:lin ang="1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machine with arrows pointing to it&#10;&#10;Description automatically generated" id="151" name="Google Shape;151;p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54939" y="254662"/>
            <a:ext cx="9345164" cy="6331354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7"/>
          <p:cNvSpPr txBox="1"/>
          <p:nvPr>
            <p:ph idx="10" type="dt"/>
          </p:nvPr>
        </p:nvSpPr>
        <p:spPr>
          <a:xfrm>
            <a:off x="8991600" y="645566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sl-SI" sz="1100">
                <a:solidFill>
                  <a:srgbClr val="FFFFFF"/>
                </a:solidFill>
              </a:rPr>
              <a:t>6.09.2024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"/>
          <p:cNvSpPr txBox="1"/>
          <p:nvPr>
            <p:ph type="title"/>
          </p:nvPr>
        </p:nvSpPr>
        <p:spPr>
          <a:xfrm>
            <a:off x="278296" y="210522"/>
            <a:ext cx="88011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03127"/>
              </a:buClr>
              <a:buSzPts val="4400"/>
              <a:buFont typeface="Times New Roman"/>
              <a:buNone/>
            </a:pPr>
            <a:r>
              <a:rPr lang="sl-SI">
                <a:latin typeface="Times New Roman"/>
                <a:ea typeface="Times New Roman"/>
                <a:cs typeface="Times New Roman"/>
                <a:sym typeface="Times New Roman"/>
              </a:rPr>
              <a:t>Prepoznavanje in lokalizacija testa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A screen shot of a graph&#10;&#10;Description automatically generated" id="158" name="Google Shape;158;p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3408" y="1301245"/>
            <a:ext cx="5755161" cy="50177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omputer generated image of a machine" id="159" name="Google Shape;159;p8"/>
          <p:cNvPicPr preferRelativeResize="0"/>
          <p:nvPr>
            <p:ph idx="2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94227" y="1304894"/>
            <a:ext cx="5274121" cy="5013768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l-SI"/>
              <a:t>6.09.2024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9"/>
          <p:cNvSpPr txBox="1"/>
          <p:nvPr>
            <p:ph idx="1" type="body"/>
          </p:nvPr>
        </p:nvSpPr>
        <p:spPr>
          <a:xfrm>
            <a:off x="55190" y="292264"/>
            <a:ext cx="984477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3600"/>
              <a:buNone/>
            </a:pPr>
            <a:r>
              <a:rPr lang="sl-SI" sz="3600">
                <a:latin typeface="Times New Roman"/>
                <a:ea typeface="Times New Roman"/>
                <a:cs typeface="Times New Roman"/>
                <a:sym typeface="Times New Roman"/>
              </a:rPr>
              <a:t>Omejen prostor v katerem se lahko nahaja: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A computer generated image of a square&#10;&#10;Description automatically generated" id="166" name="Google Shape;166;p9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3415" y="1866508"/>
            <a:ext cx="5242896" cy="440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9"/>
          <p:cNvSpPr txBox="1"/>
          <p:nvPr>
            <p:ph idx="3" type="body"/>
          </p:nvPr>
        </p:nvSpPr>
        <p:spPr>
          <a:xfrm>
            <a:off x="6671823" y="993007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2400"/>
              <a:buNone/>
            </a:pPr>
            <a:r>
              <a:rPr lang="sl-SI">
                <a:latin typeface="Times New Roman"/>
                <a:ea typeface="Times New Roman"/>
                <a:cs typeface="Times New Roman"/>
                <a:sym typeface="Times New Roman"/>
              </a:rPr>
              <a:t>b) testo nad tekočim trakom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A graph of a rectangular object with numbers and symbols&#10;&#10;Description automatically generated" id="168" name="Google Shape;168;p9"/>
          <p:cNvPicPr preferRelativeResize="0"/>
          <p:nvPr>
            <p:ph idx="4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97858" y="1866507"/>
            <a:ext cx="3894617" cy="440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l-SI"/>
              <a:t>6.09.2024</a:t>
            </a:r>
            <a:endParaRPr/>
          </a:p>
        </p:txBody>
      </p:sp>
      <p:sp>
        <p:nvSpPr>
          <p:cNvPr id="170" name="Google Shape;17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l-SI"/>
              <a:t>‹#›</a:t>
            </a:fld>
            <a:endParaRPr/>
          </a:p>
        </p:txBody>
      </p:sp>
      <p:sp>
        <p:nvSpPr>
          <p:cNvPr id="171" name="Google Shape;171;p9"/>
          <p:cNvSpPr txBox="1"/>
          <p:nvPr/>
        </p:nvSpPr>
        <p:spPr>
          <a:xfrm>
            <a:off x="626287" y="995807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2400"/>
              <a:buFont typeface="Arial"/>
              <a:buNone/>
            </a:pPr>
            <a:r>
              <a:rPr b="1" lang="sl-SI" sz="2400">
                <a:solidFill>
                  <a:srgbClr val="5859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 objekt testnega oblaka točk</a:t>
            </a:r>
            <a:endParaRPr b="1" sz="2400">
              <a:solidFill>
                <a:srgbClr val="58595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0"/>
          <p:cNvSpPr txBox="1"/>
          <p:nvPr>
            <p:ph idx="1" type="body"/>
          </p:nvPr>
        </p:nvSpPr>
        <p:spPr>
          <a:xfrm>
            <a:off x="159174" y="9524"/>
            <a:ext cx="9844777" cy="123901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3600"/>
              <a:buNone/>
            </a:pPr>
            <a:r>
              <a:rPr lang="sl-SI" sz="3600">
                <a:latin typeface="Times New Roman"/>
                <a:ea typeface="Times New Roman"/>
                <a:cs typeface="Times New Roman"/>
                <a:sym typeface="Times New Roman"/>
              </a:rPr>
              <a:t>Statistično odstranjevanje odstopanj</a:t>
            </a:r>
            <a:endParaRPr/>
          </a:p>
          <a:p>
            <a:pPr indent="0" lvl="0" marL="0" rtl="0" algn="l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Clr>
                <a:srgbClr val="58595B"/>
              </a:buClr>
              <a:buSzPts val="3600"/>
              <a:buNone/>
            </a:pPr>
            <a:r>
              <a:rPr lang="sl-SI" sz="3600">
                <a:latin typeface="Times New Roman"/>
                <a:ea typeface="Times New Roman"/>
                <a:cs typeface="Times New Roman"/>
                <a:sym typeface="Times New Roman"/>
              </a:rPr>
              <a:t>(ang. </a:t>
            </a:r>
            <a:r>
              <a:rPr i="1" lang="sl-SI" sz="3600">
                <a:latin typeface="Times New Roman"/>
                <a:ea typeface="Times New Roman"/>
                <a:cs typeface="Times New Roman"/>
                <a:sym typeface="Times New Roman"/>
              </a:rPr>
              <a:t>Statistical Outlier Removal, SOR</a:t>
            </a:r>
            <a:r>
              <a:rPr lang="sl-SI" sz="3600">
                <a:latin typeface="Times New Roman"/>
                <a:ea typeface="Times New Roman"/>
                <a:cs typeface="Times New Roman"/>
                <a:sym typeface="Times New Roman"/>
              </a:rPr>
              <a:t>) na: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" name="Google Shape;177;p10"/>
          <p:cNvSpPr txBox="1"/>
          <p:nvPr>
            <p:ph idx="3" type="body"/>
          </p:nvPr>
        </p:nvSpPr>
        <p:spPr>
          <a:xfrm>
            <a:off x="6671823" y="993007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2400"/>
              <a:buNone/>
            </a:pPr>
            <a:r>
              <a:rPr lang="sl-SI">
                <a:latin typeface="Times New Roman"/>
                <a:ea typeface="Times New Roman"/>
                <a:cs typeface="Times New Roman"/>
                <a:sym typeface="Times New Roman"/>
              </a:rPr>
              <a:t>b) oblaku točk krušnega testa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8" name="Google Shape;178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l-SI"/>
              <a:t>6.09.2024</a:t>
            </a:r>
            <a:endParaRPr/>
          </a:p>
        </p:txBody>
      </p:sp>
      <p:sp>
        <p:nvSpPr>
          <p:cNvPr id="179" name="Google Shape;179;p10"/>
          <p:cNvSpPr txBox="1"/>
          <p:nvPr/>
        </p:nvSpPr>
        <p:spPr>
          <a:xfrm>
            <a:off x="626287" y="995807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2400"/>
              <a:buFont typeface="Arial"/>
              <a:buNone/>
            </a:pPr>
            <a:r>
              <a:rPr b="1" lang="sl-SI" sz="2400">
                <a:solidFill>
                  <a:srgbClr val="5859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 testnem oblaku točk</a:t>
            </a:r>
            <a:endParaRPr b="1" sz="2400">
              <a:solidFill>
                <a:srgbClr val="58595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A computer generated image of a square&#10;&#10;Description automatically generated with medium confidence" id="180" name="Google Shape;180;p10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5741" y="1819198"/>
            <a:ext cx="5458711" cy="44619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 shot of a graph&#10;&#10;Description automatically generated" id="181" name="Google Shape;181;p10"/>
          <p:cNvPicPr preferRelativeResize="0"/>
          <p:nvPr>
            <p:ph idx="4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85481" y="1817383"/>
            <a:ext cx="4057656" cy="44570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1"/>
          <p:cNvSpPr txBox="1"/>
          <p:nvPr>
            <p:ph idx="1" type="body"/>
          </p:nvPr>
        </p:nvSpPr>
        <p:spPr>
          <a:xfrm>
            <a:off x="606849" y="-1"/>
            <a:ext cx="9844777" cy="123901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3600"/>
              <a:buNone/>
            </a:pPr>
            <a:r>
              <a:rPr lang="sl-SI" sz="3600">
                <a:latin typeface="Times New Roman"/>
                <a:ea typeface="Times New Roman"/>
                <a:cs typeface="Times New Roman"/>
                <a:sym typeface="Times New Roman"/>
              </a:rPr>
              <a:t>Filtriranje mreže vokslov</a:t>
            </a:r>
            <a:endParaRPr/>
          </a:p>
          <a:p>
            <a:pPr indent="0" lvl="0" marL="0" rtl="0" algn="l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Clr>
                <a:srgbClr val="58595B"/>
              </a:buClr>
              <a:buSzPts val="3600"/>
              <a:buNone/>
            </a:pPr>
            <a:r>
              <a:rPr lang="sl-SI" sz="3600">
                <a:latin typeface="Times New Roman"/>
                <a:ea typeface="Times New Roman"/>
                <a:cs typeface="Times New Roman"/>
                <a:sym typeface="Times New Roman"/>
              </a:rPr>
              <a:t>(ang. </a:t>
            </a:r>
            <a:r>
              <a:rPr i="1" lang="sl-SI" sz="3600">
                <a:latin typeface="Times New Roman"/>
                <a:ea typeface="Times New Roman"/>
                <a:cs typeface="Times New Roman"/>
                <a:sym typeface="Times New Roman"/>
              </a:rPr>
              <a:t>Voxel Grid Filtering</a:t>
            </a:r>
            <a:r>
              <a:rPr lang="sl-SI" sz="3600">
                <a:latin typeface="Times New Roman"/>
                <a:ea typeface="Times New Roman"/>
                <a:cs typeface="Times New Roman"/>
                <a:sym typeface="Times New Roman"/>
              </a:rPr>
              <a:t>) na: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" name="Google Shape;187;p11"/>
          <p:cNvSpPr txBox="1"/>
          <p:nvPr>
            <p:ph idx="3" type="body"/>
          </p:nvPr>
        </p:nvSpPr>
        <p:spPr>
          <a:xfrm>
            <a:off x="6671823" y="974345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2400"/>
              <a:buNone/>
            </a:pPr>
            <a:r>
              <a:rPr lang="sl-SI">
                <a:latin typeface="Times New Roman"/>
                <a:ea typeface="Times New Roman"/>
                <a:cs typeface="Times New Roman"/>
                <a:sym typeface="Times New Roman"/>
              </a:rPr>
              <a:t>b) oblaku točk krušnega testa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" name="Google Shape;18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l-SI"/>
              <a:t>6.09.2024</a:t>
            </a:r>
            <a:endParaRPr/>
          </a:p>
        </p:txBody>
      </p:sp>
      <p:sp>
        <p:nvSpPr>
          <p:cNvPr id="189" name="Google Shape;189;p11"/>
          <p:cNvSpPr txBox="1"/>
          <p:nvPr/>
        </p:nvSpPr>
        <p:spPr>
          <a:xfrm>
            <a:off x="616762" y="948570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2400"/>
              <a:buFont typeface="Arial"/>
              <a:buNone/>
            </a:pPr>
            <a:r>
              <a:rPr b="1" lang="sl-SI" sz="2400">
                <a:solidFill>
                  <a:srgbClr val="5859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 testnem oblaku točk</a:t>
            </a:r>
            <a:endParaRPr b="1" sz="2400">
              <a:solidFill>
                <a:srgbClr val="58595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A computer generated image of a grid&#10;&#10;Description automatically generated with medium confidence" id="190" name="Google Shape;190;p11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929" y="1754378"/>
            <a:ext cx="5248664" cy="45210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diagram of a graph&#10;&#10;Description automatically generated" id="191" name="Google Shape;191;p11"/>
          <p:cNvPicPr preferRelativeResize="0"/>
          <p:nvPr>
            <p:ph idx="4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72553" y="1767926"/>
            <a:ext cx="4340200" cy="45243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2"/>
          <p:cNvSpPr txBox="1"/>
          <p:nvPr>
            <p:ph idx="1" type="body"/>
          </p:nvPr>
        </p:nvSpPr>
        <p:spPr>
          <a:xfrm>
            <a:off x="205858" y="-47626"/>
            <a:ext cx="9347717" cy="123901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3200"/>
              <a:buNone/>
            </a:pPr>
            <a:r>
              <a:rPr lang="sl-SI" sz="3200">
                <a:latin typeface="Times New Roman"/>
                <a:ea typeface="Times New Roman"/>
                <a:cs typeface="Times New Roman"/>
                <a:sym typeface="Times New Roman"/>
              </a:rPr>
              <a:t>Uporabo metodo RANSAC</a:t>
            </a:r>
            <a:endParaRPr/>
          </a:p>
          <a:p>
            <a:pPr indent="0" lvl="0" marL="0" rtl="0" algn="l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Clr>
                <a:srgbClr val="58595B"/>
              </a:buClr>
              <a:buSzPts val="3200"/>
              <a:buNone/>
            </a:pPr>
            <a:r>
              <a:rPr lang="sl-SI" sz="3200">
                <a:latin typeface="Times New Roman"/>
                <a:ea typeface="Times New Roman"/>
                <a:cs typeface="Times New Roman"/>
                <a:sym typeface="Times New Roman"/>
              </a:rPr>
              <a:t>(ang. Random Sample Consensus, </a:t>
            </a:r>
            <a:r>
              <a:rPr i="1" lang="sl-SI" sz="3200">
                <a:latin typeface="Times New Roman"/>
                <a:ea typeface="Times New Roman"/>
                <a:cs typeface="Times New Roman"/>
                <a:sym typeface="Times New Roman"/>
              </a:rPr>
              <a:t>RANSAC</a:t>
            </a:r>
            <a:r>
              <a:rPr lang="sl-SI" sz="3200">
                <a:latin typeface="Times New Roman"/>
                <a:ea typeface="Times New Roman"/>
                <a:cs typeface="Times New Roman"/>
                <a:sym typeface="Times New Roman"/>
              </a:rPr>
              <a:t>) na:</a:t>
            </a:r>
            <a:endParaRPr/>
          </a:p>
        </p:txBody>
      </p:sp>
      <p:sp>
        <p:nvSpPr>
          <p:cNvPr id="197" name="Google Shape;197;p12"/>
          <p:cNvSpPr txBox="1"/>
          <p:nvPr>
            <p:ph idx="3" type="body"/>
          </p:nvPr>
        </p:nvSpPr>
        <p:spPr>
          <a:xfrm>
            <a:off x="6671823" y="1221995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2400"/>
              <a:buNone/>
            </a:pPr>
            <a:r>
              <a:rPr lang="sl-SI">
                <a:latin typeface="Times New Roman"/>
                <a:ea typeface="Times New Roman"/>
                <a:cs typeface="Times New Roman"/>
                <a:sym typeface="Times New Roman"/>
              </a:rPr>
              <a:t>b) oblaku točk krušnega testa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8" name="Google Shape;198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l-SI"/>
              <a:t>6.09.2024</a:t>
            </a:r>
            <a:endParaRPr/>
          </a:p>
        </p:txBody>
      </p:sp>
      <p:sp>
        <p:nvSpPr>
          <p:cNvPr id="199" name="Google Shape;199;p12"/>
          <p:cNvSpPr txBox="1"/>
          <p:nvPr/>
        </p:nvSpPr>
        <p:spPr>
          <a:xfrm>
            <a:off x="512958" y="1243262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2400"/>
              <a:buFont typeface="Arial"/>
              <a:buNone/>
            </a:pPr>
            <a:r>
              <a:rPr b="1" lang="sl-SI" sz="2400">
                <a:solidFill>
                  <a:srgbClr val="5859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 testnem oblaku točk</a:t>
            </a:r>
            <a:endParaRPr b="1" sz="2400">
              <a:solidFill>
                <a:srgbClr val="58595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A graph of a graph showing a graph of a graph&#10;&#10;Description automatically generated with medium confidence" id="200" name="Google Shape;200;p12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8305" y="2173254"/>
            <a:ext cx="5584370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diagram of a graph&#10;&#10;Description automatically generated" id="201" name="Google Shape;201;p12"/>
          <p:cNvPicPr preferRelativeResize="0"/>
          <p:nvPr>
            <p:ph idx="4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00462" y="2883156"/>
            <a:ext cx="4765492" cy="26847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3"/>
          <p:cNvSpPr txBox="1"/>
          <p:nvPr>
            <p:ph idx="1" type="body"/>
          </p:nvPr>
        </p:nvSpPr>
        <p:spPr>
          <a:xfrm>
            <a:off x="336486" y="-10299"/>
            <a:ext cx="9347717" cy="123901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3200"/>
              <a:buNone/>
            </a:pPr>
            <a:r>
              <a:rPr lang="sl-SI" sz="3200">
                <a:latin typeface="Times New Roman"/>
                <a:ea typeface="Times New Roman"/>
                <a:cs typeface="Times New Roman"/>
                <a:sym typeface="Times New Roman"/>
              </a:rPr>
              <a:t>Transformiran oblak točk:</a:t>
            </a:r>
            <a:endParaRPr/>
          </a:p>
        </p:txBody>
      </p:sp>
      <p:sp>
        <p:nvSpPr>
          <p:cNvPr id="207" name="Google Shape;207;p13"/>
          <p:cNvSpPr txBox="1"/>
          <p:nvPr>
            <p:ph idx="3" type="body"/>
          </p:nvPr>
        </p:nvSpPr>
        <p:spPr>
          <a:xfrm>
            <a:off x="7371609" y="1315312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2400"/>
              <a:buNone/>
            </a:pPr>
            <a:r>
              <a:rPr lang="sl-SI">
                <a:latin typeface="Times New Roman"/>
                <a:ea typeface="Times New Roman"/>
                <a:cs typeface="Times New Roman"/>
                <a:sym typeface="Times New Roman"/>
              </a:rPr>
              <a:t>b) krušnega testa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8" name="Google Shape;208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l-SI"/>
              <a:t>6.09.2024</a:t>
            </a:r>
            <a:endParaRPr/>
          </a:p>
        </p:txBody>
      </p:sp>
      <p:sp>
        <p:nvSpPr>
          <p:cNvPr id="209" name="Google Shape;209;p13"/>
          <p:cNvSpPr txBox="1"/>
          <p:nvPr/>
        </p:nvSpPr>
        <p:spPr>
          <a:xfrm>
            <a:off x="410327" y="1317906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2400"/>
              <a:buFont typeface="Arial"/>
              <a:buNone/>
            </a:pPr>
            <a:r>
              <a:rPr b="1" lang="sl-SI" sz="2400">
                <a:solidFill>
                  <a:srgbClr val="5859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 testnega objekta</a:t>
            </a:r>
            <a:endParaRPr b="1" sz="2400">
              <a:solidFill>
                <a:srgbClr val="58595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A graph of a graph of a triangle" id="210" name="Google Shape;210;p13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5871" y="2295331"/>
            <a:ext cx="5573262" cy="34616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aph of a graph&#10;&#10;Description automatically generated with medium confidence" id="211" name="Google Shape;211;p13"/>
          <p:cNvPicPr preferRelativeResize="0"/>
          <p:nvPr>
            <p:ph idx="4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03650" y="2733869"/>
            <a:ext cx="4384637" cy="2696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4"/>
          <p:cNvSpPr txBox="1"/>
          <p:nvPr>
            <p:ph idx="1" type="body"/>
          </p:nvPr>
        </p:nvSpPr>
        <p:spPr>
          <a:xfrm>
            <a:off x="299164" y="933061"/>
            <a:ext cx="9347717" cy="7528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3200"/>
              <a:buNone/>
            </a:pPr>
            <a:r>
              <a:rPr lang="sl-SI" sz="3200">
                <a:latin typeface="Times New Roman"/>
                <a:ea typeface="Times New Roman"/>
                <a:cs typeface="Times New Roman"/>
                <a:sym typeface="Times New Roman"/>
              </a:rPr>
              <a:t>Uporaba sredinjskega filtra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8595B"/>
              </a:buClr>
              <a:buSzPts val="3200"/>
              <a:buNone/>
            </a:pPr>
            <a:r>
              <a:rPr lang="sl-SI" sz="3200">
                <a:latin typeface="Times New Roman"/>
                <a:ea typeface="Times New Roman"/>
                <a:cs typeface="Times New Roman"/>
                <a:sym typeface="Times New Roman"/>
              </a:rPr>
              <a:t>(ang. </a:t>
            </a:r>
            <a:r>
              <a:rPr i="1" lang="sl-SI" sz="3200">
                <a:latin typeface="Times New Roman"/>
                <a:ea typeface="Times New Roman"/>
                <a:cs typeface="Times New Roman"/>
                <a:sym typeface="Times New Roman"/>
              </a:rPr>
              <a:t>Median Filter</a:t>
            </a:r>
            <a:r>
              <a:rPr lang="sl-SI" sz="3200">
                <a:latin typeface="Times New Roman"/>
                <a:ea typeface="Times New Roman"/>
                <a:cs typeface="Times New Roman"/>
                <a:sym typeface="Times New Roman"/>
              </a:rPr>
              <a:t>) na:</a:t>
            </a:r>
            <a:endParaRPr/>
          </a:p>
        </p:txBody>
      </p:sp>
      <p:sp>
        <p:nvSpPr>
          <p:cNvPr id="217" name="Google Shape;217;p14"/>
          <p:cNvSpPr txBox="1"/>
          <p:nvPr>
            <p:ph idx="3" type="body"/>
          </p:nvPr>
        </p:nvSpPr>
        <p:spPr>
          <a:xfrm>
            <a:off x="6886413" y="1623217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2400"/>
              <a:buNone/>
            </a:pPr>
            <a:r>
              <a:rPr lang="sl-SI">
                <a:latin typeface="Times New Roman"/>
                <a:ea typeface="Times New Roman"/>
                <a:cs typeface="Times New Roman"/>
                <a:sym typeface="Times New Roman"/>
              </a:rPr>
              <a:t>b) krušnega testa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8" name="Google Shape;218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l-SI"/>
              <a:t>6.09.2024</a:t>
            </a:r>
            <a:endParaRPr/>
          </a:p>
        </p:txBody>
      </p:sp>
      <p:sp>
        <p:nvSpPr>
          <p:cNvPr id="219" name="Google Shape;219;p14"/>
          <p:cNvSpPr txBox="1"/>
          <p:nvPr/>
        </p:nvSpPr>
        <p:spPr>
          <a:xfrm>
            <a:off x="419661" y="165380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2400"/>
              <a:buFont typeface="Arial"/>
              <a:buNone/>
            </a:pPr>
            <a:r>
              <a:rPr b="1" lang="sl-SI" sz="2400">
                <a:solidFill>
                  <a:srgbClr val="5859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 Testnem oblaku točk</a:t>
            </a:r>
            <a:endParaRPr b="1" sz="2400">
              <a:solidFill>
                <a:srgbClr val="58595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A graph of a triangle&#10;&#10;Description automatically generated with medium confidence" id="220" name="Google Shape;220;p14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4777" y="2612565"/>
            <a:ext cx="5967861" cy="33123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aph of a function&#10;&#10;Description automatically generated with medium confidence" id="221" name="Google Shape;221;p14"/>
          <p:cNvPicPr preferRelativeResize="0"/>
          <p:nvPr>
            <p:ph idx="4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00638" y="2956177"/>
            <a:ext cx="5147822" cy="25955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5"/>
          <p:cNvSpPr txBox="1"/>
          <p:nvPr>
            <p:ph type="title"/>
          </p:nvPr>
        </p:nvSpPr>
        <p:spPr>
          <a:xfrm>
            <a:off x="578499" y="382555"/>
            <a:ext cx="8764904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03127"/>
              </a:buClr>
              <a:buSzPts val="4400"/>
              <a:buFont typeface="Times New Roman"/>
              <a:buNone/>
            </a:pPr>
            <a:r>
              <a:rPr lang="sl-SI">
                <a:latin typeface="Times New Roman"/>
                <a:ea typeface="Times New Roman"/>
                <a:cs typeface="Times New Roman"/>
                <a:sym typeface="Times New Roman"/>
              </a:rPr>
              <a:t>Načrtovanje trajektorij zarezovanja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27" name="Google Shape;227;p15"/>
          <p:cNvGrpSpPr/>
          <p:nvPr/>
        </p:nvGrpSpPr>
        <p:grpSpPr>
          <a:xfrm>
            <a:off x="65313" y="1836060"/>
            <a:ext cx="5626360" cy="4202916"/>
            <a:chOff x="0" y="63243"/>
            <a:chExt cx="5626360" cy="4202916"/>
          </a:xfrm>
        </p:grpSpPr>
        <p:sp>
          <p:nvSpPr>
            <p:cNvPr id="228" name="Google Shape;228;p15"/>
            <p:cNvSpPr/>
            <p:nvPr/>
          </p:nvSpPr>
          <p:spPr>
            <a:xfrm>
              <a:off x="0" y="63243"/>
              <a:ext cx="5626360" cy="794503"/>
            </a:xfrm>
            <a:prstGeom prst="roundRect">
              <a:avLst>
                <a:gd fmla="val 16667" name="adj"/>
              </a:avLst>
            </a:prstGeom>
            <a:solidFill>
              <a:srgbClr val="4372C3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15"/>
            <p:cNvSpPr txBox="1"/>
            <p:nvPr/>
          </p:nvSpPr>
          <p:spPr>
            <a:xfrm>
              <a:off x="38784" y="102027"/>
              <a:ext cx="5548792" cy="7169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None/>
              </a:pPr>
              <a:r>
                <a:rPr lang="sl-SI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Kako naj zarezujemo kruh?</a:t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" name="Google Shape;230;p15"/>
            <p:cNvSpPr/>
            <p:nvPr/>
          </p:nvSpPr>
          <p:spPr>
            <a:xfrm>
              <a:off x="0" y="915346"/>
              <a:ext cx="5626360" cy="794503"/>
            </a:xfrm>
            <a:prstGeom prst="roundRect">
              <a:avLst>
                <a:gd fmla="val 16667" name="adj"/>
              </a:avLst>
            </a:prstGeom>
            <a:solidFill>
              <a:srgbClr val="4372C3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15"/>
            <p:cNvSpPr txBox="1"/>
            <p:nvPr/>
          </p:nvSpPr>
          <p:spPr>
            <a:xfrm>
              <a:off x="38784" y="954130"/>
              <a:ext cx="5548792" cy="7169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None/>
              </a:pPr>
              <a:r>
                <a:rPr lang="sl-SI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Kako naj to programiramo?</a:t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" name="Google Shape;232;p15"/>
            <p:cNvSpPr/>
            <p:nvPr/>
          </p:nvSpPr>
          <p:spPr>
            <a:xfrm>
              <a:off x="0" y="1767449"/>
              <a:ext cx="5626360" cy="794503"/>
            </a:xfrm>
            <a:prstGeom prst="roundRect">
              <a:avLst>
                <a:gd fmla="val 16667" name="adj"/>
              </a:avLst>
            </a:prstGeom>
            <a:solidFill>
              <a:srgbClr val="4372C3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15"/>
            <p:cNvSpPr txBox="1"/>
            <p:nvPr/>
          </p:nvSpPr>
          <p:spPr>
            <a:xfrm>
              <a:off x="38784" y="1806233"/>
              <a:ext cx="5548792" cy="7169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None/>
              </a:pPr>
              <a:r>
                <a:rPr lang="sl-SI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Kako izvedemo zarezovanje če se oblika krušnega testa lahko spremeni?</a:t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" name="Google Shape;234;p15"/>
            <p:cNvSpPr/>
            <p:nvPr/>
          </p:nvSpPr>
          <p:spPr>
            <a:xfrm>
              <a:off x="0" y="2619553"/>
              <a:ext cx="5626360" cy="794503"/>
            </a:xfrm>
            <a:prstGeom prst="roundRect">
              <a:avLst>
                <a:gd fmla="val 16667" name="adj"/>
              </a:avLst>
            </a:prstGeom>
            <a:solidFill>
              <a:srgbClr val="4372C3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15"/>
            <p:cNvSpPr txBox="1"/>
            <p:nvPr/>
          </p:nvSpPr>
          <p:spPr>
            <a:xfrm>
              <a:off x="38784" y="2658337"/>
              <a:ext cx="5548792" cy="7169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None/>
              </a:pPr>
              <a:r>
                <a:rPr lang="sl-SI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Ali je možno spreminjati število in način zarezovanja?</a:t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" name="Google Shape;236;p15"/>
            <p:cNvSpPr/>
            <p:nvPr/>
          </p:nvSpPr>
          <p:spPr>
            <a:xfrm>
              <a:off x="0" y="3471656"/>
              <a:ext cx="5626360" cy="794503"/>
            </a:xfrm>
            <a:prstGeom prst="roundRect">
              <a:avLst>
                <a:gd fmla="val 16667" name="adj"/>
              </a:avLst>
            </a:prstGeom>
            <a:solidFill>
              <a:srgbClr val="4372C3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15"/>
            <p:cNvSpPr txBox="1"/>
            <p:nvPr/>
          </p:nvSpPr>
          <p:spPr>
            <a:xfrm>
              <a:off x="38784" y="3510440"/>
              <a:ext cx="5548792" cy="7169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None/>
              </a:pPr>
              <a:r>
                <a:rPr lang="sl-SI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Kako to izvedemo optimalno?</a:t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8" name="Google Shape;238;p15"/>
          <p:cNvSpPr txBox="1"/>
          <p:nvPr>
            <p:ph idx="4" type="body"/>
          </p:nvPr>
        </p:nvSpPr>
        <p:spPr>
          <a:xfrm>
            <a:off x="5777203" y="2533064"/>
            <a:ext cx="6679164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2800"/>
              <a:buChar char="•"/>
            </a:pPr>
            <a:r>
              <a:rPr lang="sl-SI"/>
              <a:t>Najdemo lokalne osi.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8595B"/>
              </a:buClr>
              <a:buSzPts val="2800"/>
              <a:buChar char="•"/>
            </a:pPr>
            <a:r>
              <a:rPr lang="sl-SI"/>
              <a:t>Dogovor: zarezovanje vedno poteka vzdolž najdaljše lokalne osi (os x`).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8595B"/>
              </a:buClr>
              <a:buSzPts val="2800"/>
              <a:buChar char="•"/>
            </a:pPr>
            <a:r>
              <a:rPr lang="sl-SI"/>
              <a:t>Uporabnik nastavi število rezov.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8595B"/>
              </a:buClr>
              <a:buSzPts val="2800"/>
              <a:buChar char="•"/>
            </a:pPr>
            <a:r>
              <a:rPr lang="sl-SI"/>
              <a:t>Uporabnik nastavi kot (</a:t>
            </a:r>
            <a:r>
              <a:rPr i="0" lang="sl-SI">
                <a:solidFill>
                  <a:srgbClr val="595959"/>
                </a:solidFill>
              </a:rPr>
              <a:t>α) </a:t>
            </a:r>
            <a:r>
              <a:rPr lang="sl-SI"/>
              <a:t>med     lokalno os y` in trajktorijo zarezovanja.</a:t>
            </a:r>
            <a:endParaRPr/>
          </a:p>
        </p:txBody>
      </p:sp>
      <p:sp>
        <p:nvSpPr>
          <p:cNvPr id="239" name="Google Shape;239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l-SI"/>
              <a:t>6.09.2024</a:t>
            </a:r>
            <a:endParaRPr/>
          </a:p>
        </p:txBody>
      </p:sp>
      <p:sp>
        <p:nvSpPr>
          <p:cNvPr id="240" name="Google Shape;240;p15"/>
          <p:cNvSpPr txBox="1"/>
          <p:nvPr/>
        </p:nvSpPr>
        <p:spPr>
          <a:xfrm>
            <a:off x="5788122" y="1516325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2800"/>
              <a:buFont typeface="Arial"/>
              <a:buNone/>
            </a:pPr>
            <a:r>
              <a:rPr b="1" lang="sl-SI" sz="2800">
                <a:solidFill>
                  <a:srgbClr val="5859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Ideja:</a:t>
            </a:r>
            <a:endParaRPr b="1" sz="2800">
              <a:solidFill>
                <a:srgbClr val="58595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Lightbulb outline" id="241" name="Google Shape;24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67900" y="1724025"/>
            <a:ext cx="1105694" cy="11056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6"/>
          <p:cNvSpPr txBox="1"/>
          <p:nvPr>
            <p:ph idx="1" type="body"/>
          </p:nvPr>
        </p:nvSpPr>
        <p:spPr>
          <a:xfrm>
            <a:off x="289282" y="1447898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2400"/>
              <a:buNone/>
            </a:pPr>
            <a:r>
              <a:rPr lang="sl-SI">
                <a:latin typeface="Times New Roman"/>
                <a:ea typeface="Times New Roman"/>
                <a:cs typeface="Times New Roman"/>
                <a:sym typeface="Times New Roman"/>
              </a:rPr>
              <a:t>a) testnega oblaka točk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A diagram of a graph&#10;&#10;Description automatically generated" id="247" name="Google Shape;247;p16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7170" y="2417195"/>
            <a:ext cx="5905009" cy="3650603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16"/>
          <p:cNvSpPr txBox="1"/>
          <p:nvPr>
            <p:ph idx="3" type="body"/>
          </p:nvPr>
        </p:nvSpPr>
        <p:spPr>
          <a:xfrm>
            <a:off x="6452118" y="1447899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2400"/>
              <a:buNone/>
            </a:pPr>
            <a:r>
              <a:rPr lang="sl-SI">
                <a:latin typeface="Times New Roman"/>
                <a:ea typeface="Times New Roman"/>
                <a:cs typeface="Times New Roman"/>
                <a:sym typeface="Times New Roman"/>
              </a:rPr>
              <a:t>b) oblaka točk krušnega testa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A graph of a graph with colored lines&#10;&#10;Description automatically generated with medium confidence" id="249" name="Google Shape;249;p16"/>
          <p:cNvPicPr preferRelativeResize="0"/>
          <p:nvPr>
            <p:ph idx="4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31615" y="2677888"/>
            <a:ext cx="5681967" cy="3120007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l-SI"/>
              <a:t>6.09.2024</a:t>
            </a:r>
            <a:endParaRPr/>
          </a:p>
        </p:txBody>
      </p:sp>
      <p:sp>
        <p:nvSpPr>
          <p:cNvPr id="251" name="Google Shape;251;p16"/>
          <p:cNvSpPr txBox="1"/>
          <p:nvPr/>
        </p:nvSpPr>
        <p:spPr>
          <a:xfrm>
            <a:off x="273732" y="111967"/>
            <a:ext cx="7237412" cy="12485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2800"/>
              <a:buFont typeface="Arial"/>
              <a:buNone/>
            </a:pPr>
            <a:r>
              <a:rPr b="1" lang="sl-SI" sz="2800">
                <a:solidFill>
                  <a:srgbClr val="5859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Analiza glavnih komponent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8595B"/>
              </a:buClr>
              <a:buSzPts val="2800"/>
              <a:buFont typeface="Arial"/>
              <a:buNone/>
            </a:pPr>
            <a:r>
              <a:rPr b="1" lang="sl-SI" sz="2800">
                <a:solidFill>
                  <a:srgbClr val="5859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(ang. </a:t>
            </a:r>
            <a:r>
              <a:rPr b="1" i="1" lang="sl-SI" sz="2800">
                <a:solidFill>
                  <a:srgbClr val="5859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Principal Component Analysis, PCA</a:t>
            </a:r>
            <a:r>
              <a:rPr b="1" lang="sl-SI" sz="2800">
                <a:solidFill>
                  <a:srgbClr val="5859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na:</a:t>
            </a:r>
            <a:endParaRPr b="1" sz="2800">
              <a:solidFill>
                <a:srgbClr val="58595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7"/>
          <p:cNvSpPr txBox="1"/>
          <p:nvPr>
            <p:ph idx="1" type="body"/>
          </p:nvPr>
        </p:nvSpPr>
        <p:spPr>
          <a:xfrm>
            <a:off x="289282" y="1363919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2400"/>
              <a:buNone/>
            </a:pPr>
            <a:r>
              <a:rPr lang="sl-SI">
                <a:latin typeface="Times New Roman"/>
                <a:ea typeface="Times New Roman"/>
                <a:cs typeface="Times New Roman"/>
                <a:sym typeface="Times New Roman"/>
              </a:rPr>
              <a:t>a) modela po PCA analizi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7" name="Google Shape;257;p17"/>
          <p:cNvSpPr txBox="1"/>
          <p:nvPr>
            <p:ph idx="3" type="body"/>
          </p:nvPr>
        </p:nvSpPr>
        <p:spPr>
          <a:xfrm>
            <a:off x="6452118" y="1363922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2400"/>
              <a:buNone/>
            </a:pPr>
            <a:r>
              <a:rPr lang="sl-SI">
                <a:latin typeface="Times New Roman"/>
                <a:ea typeface="Times New Roman"/>
                <a:cs typeface="Times New Roman"/>
                <a:sym typeface="Times New Roman"/>
              </a:rPr>
              <a:t>b) krušnega testa po PCA analizi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8" name="Google Shape;25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l-SI"/>
              <a:t>6.09.2024</a:t>
            </a:r>
            <a:endParaRPr/>
          </a:p>
        </p:txBody>
      </p:sp>
      <p:sp>
        <p:nvSpPr>
          <p:cNvPr id="259" name="Google Shape;259;p17"/>
          <p:cNvSpPr txBox="1"/>
          <p:nvPr/>
        </p:nvSpPr>
        <p:spPr>
          <a:xfrm>
            <a:off x="367038" y="111967"/>
            <a:ext cx="7237412" cy="12485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4000"/>
              <a:buFont typeface="Arial"/>
              <a:buNone/>
            </a:pPr>
            <a:r>
              <a:rPr b="1" lang="sl-SI" sz="4000">
                <a:solidFill>
                  <a:srgbClr val="5859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Prilagojene osi:</a:t>
            </a:r>
            <a:endParaRPr b="1" sz="4000">
              <a:solidFill>
                <a:srgbClr val="58595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A graph of a graph with colored dots&#10;&#10;Description automatically generated with medium confidence" id="260" name="Google Shape;260;p17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4563" y="2289205"/>
            <a:ext cx="5896947" cy="390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aph of a graph of a graph&#10;&#10;Description automatically generated with medium confidence" id="261" name="Google Shape;261;p17"/>
          <p:cNvPicPr preferRelativeResize="0"/>
          <p:nvPr>
            <p:ph idx="4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31860" y="2283370"/>
            <a:ext cx="4963908" cy="3902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8"/>
          <p:cNvSpPr txBox="1"/>
          <p:nvPr>
            <p:ph idx="1" type="body"/>
          </p:nvPr>
        </p:nvSpPr>
        <p:spPr>
          <a:xfrm>
            <a:off x="102664" y="1391914"/>
            <a:ext cx="5299755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2400"/>
              <a:buNone/>
            </a:pPr>
            <a:r>
              <a:rPr lang="sl-SI">
                <a:latin typeface="Times New Roman"/>
                <a:ea typeface="Times New Roman"/>
                <a:cs typeface="Times New Roman"/>
                <a:sym typeface="Times New Roman"/>
              </a:rPr>
              <a:t>a) modela, določene s PCA analizo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7" name="Google Shape;267;p18"/>
          <p:cNvSpPr txBox="1"/>
          <p:nvPr>
            <p:ph idx="3" type="body"/>
          </p:nvPr>
        </p:nvSpPr>
        <p:spPr>
          <a:xfrm>
            <a:off x="5994916" y="1391915"/>
            <a:ext cx="6983964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2400"/>
              <a:buNone/>
            </a:pPr>
            <a:r>
              <a:rPr lang="sl-SI">
                <a:latin typeface="Times New Roman"/>
                <a:ea typeface="Times New Roman"/>
                <a:cs typeface="Times New Roman"/>
                <a:sym typeface="Times New Roman"/>
              </a:rPr>
              <a:t>b) krušnega testa, določene s PCA analizi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8" name="Google Shape;268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l-SI"/>
              <a:t>6.09.2024</a:t>
            </a:r>
            <a:endParaRPr/>
          </a:p>
        </p:txBody>
      </p:sp>
      <p:sp>
        <p:nvSpPr>
          <p:cNvPr id="269" name="Google Shape;269;p18"/>
          <p:cNvSpPr txBox="1"/>
          <p:nvPr/>
        </p:nvSpPr>
        <p:spPr>
          <a:xfrm>
            <a:off x="105778" y="111967"/>
            <a:ext cx="7237412" cy="12485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4000"/>
              <a:buFont typeface="Arial"/>
              <a:buNone/>
            </a:pPr>
            <a:r>
              <a:rPr b="1" lang="sl-SI" sz="4000">
                <a:solidFill>
                  <a:srgbClr val="5859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Dimenzije:</a:t>
            </a:r>
            <a:endParaRPr b="1" sz="4000">
              <a:solidFill>
                <a:srgbClr val="58595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A graph with colored lines and numbers&#10;&#10;Description automatically generated" id="270" name="Google Shape;270;p18"/>
          <p:cNvPicPr preferRelativeResize="0"/>
          <p:nvPr>
            <p:ph idx="4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62630" y="2398464"/>
            <a:ext cx="6067171" cy="35423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aph of a graph with a graph and a diagram&#10;&#10;Description automatically generated with medium confidence" id="271" name="Google Shape;271;p18"/>
          <p:cNvPicPr preferRelativeResize="0"/>
          <p:nvPr>
            <p:ph idx="2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5938" y="2400372"/>
            <a:ext cx="5640080" cy="35465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9"/>
          <p:cNvSpPr txBox="1"/>
          <p:nvPr>
            <p:ph idx="1" type="body"/>
          </p:nvPr>
        </p:nvSpPr>
        <p:spPr>
          <a:xfrm>
            <a:off x="102664" y="1307935"/>
            <a:ext cx="5299755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2400"/>
              <a:buNone/>
            </a:pPr>
            <a:r>
              <a:rPr lang="sl-SI">
                <a:latin typeface="Times New Roman"/>
                <a:ea typeface="Times New Roman"/>
                <a:cs typeface="Times New Roman"/>
                <a:sym typeface="Times New Roman"/>
              </a:rPr>
              <a:t>a) objekt testnega oblaka točk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7" name="Google Shape;277;p19"/>
          <p:cNvSpPr txBox="1"/>
          <p:nvPr>
            <p:ph idx="3" type="body"/>
          </p:nvPr>
        </p:nvSpPr>
        <p:spPr>
          <a:xfrm>
            <a:off x="6088226" y="1307936"/>
            <a:ext cx="6983964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2400"/>
              <a:buNone/>
            </a:pPr>
            <a:r>
              <a:rPr lang="sl-SI">
                <a:latin typeface="Times New Roman"/>
                <a:ea typeface="Times New Roman"/>
                <a:cs typeface="Times New Roman"/>
                <a:sym typeface="Times New Roman"/>
              </a:rPr>
              <a:t>b) oblak točk krušnega testa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8" name="Google Shape;278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l-SI"/>
              <a:t>6.09.2024</a:t>
            </a:r>
            <a:endParaRPr/>
          </a:p>
        </p:txBody>
      </p:sp>
      <p:sp>
        <p:nvSpPr>
          <p:cNvPr id="279" name="Google Shape;279;p19"/>
          <p:cNvSpPr txBox="1"/>
          <p:nvPr/>
        </p:nvSpPr>
        <p:spPr>
          <a:xfrm>
            <a:off x="77783" y="9330"/>
            <a:ext cx="7237412" cy="12485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4000"/>
              <a:buFont typeface="Arial"/>
              <a:buNone/>
            </a:pPr>
            <a:r>
              <a:rPr b="1" lang="sl-SI" sz="4000">
                <a:solidFill>
                  <a:srgbClr val="5859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Dizajnirana je škatla za:</a:t>
            </a:r>
            <a:endParaRPr b="1" sz="4000">
              <a:solidFill>
                <a:srgbClr val="58595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A diagram of a graph&#10;&#10;Description automatically generated" id="280" name="Google Shape;280;p19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448" y="2202026"/>
            <a:ext cx="5488023" cy="39635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diagram of a cube with colored lines and numbers&#10;&#10;Description automatically generated" id="281" name="Google Shape;281;p19"/>
          <p:cNvPicPr preferRelativeResize="0"/>
          <p:nvPr>
            <p:ph idx="4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24620" y="2509938"/>
            <a:ext cx="5907088" cy="34052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0"/>
          <p:cNvSpPr txBox="1"/>
          <p:nvPr>
            <p:ph idx="1" type="body"/>
          </p:nvPr>
        </p:nvSpPr>
        <p:spPr>
          <a:xfrm>
            <a:off x="401243" y="1289274"/>
            <a:ext cx="5299755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2400"/>
              <a:buNone/>
            </a:pPr>
            <a:r>
              <a:rPr lang="sl-SI">
                <a:latin typeface="Times New Roman"/>
                <a:ea typeface="Times New Roman"/>
                <a:cs typeface="Times New Roman"/>
                <a:sym typeface="Times New Roman"/>
              </a:rPr>
              <a:t>a) objekt za testiranje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7" name="Google Shape;287;p20"/>
          <p:cNvSpPr txBox="1"/>
          <p:nvPr>
            <p:ph idx="3" type="body"/>
          </p:nvPr>
        </p:nvSpPr>
        <p:spPr>
          <a:xfrm>
            <a:off x="6750701" y="1261284"/>
            <a:ext cx="6983964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2400"/>
              <a:buNone/>
            </a:pPr>
            <a:r>
              <a:rPr lang="sl-SI">
                <a:latin typeface="Times New Roman"/>
                <a:ea typeface="Times New Roman"/>
                <a:cs typeface="Times New Roman"/>
                <a:sym typeface="Times New Roman"/>
              </a:rPr>
              <a:t>b) krušno testo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8" name="Google Shape;288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l-SI"/>
              <a:t>6.09.2024</a:t>
            </a:r>
            <a:endParaRPr/>
          </a:p>
        </p:txBody>
      </p:sp>
      <p:sp>
        <p:nvSpPr>
          <p:cNvPr id="289" name="Google Shape;289;p20"/>
          <p:cNvSpPr txBox="1"/>
          <p:nvPr/>
        </p:nvSpPr>
        <p:spPr>
          <a:xfrm>
            <a:off x="413692" y="111967"/>
            <a:ext cx="8804960" cy="12485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4000"/>
              <a:buFont typeface="Arial"/>
              <a:buNone/>
            </a:pPr>
            <a:r>
              <a:rPr b="1" lang="sl-SI" sz="4000">
                <a:solidFill>
                  <a:srgbClr val="5859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Nastavimo parametre za zarezovanje, kot </a:t>
            </a:r>
            <a:r>
              <a:rPr b="1" i="0" lang="sl-SI" sz="40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α</a:t>
            </a:r>
            <a:r>
              <a:rPr b="1" lang="sl-SI" sz="40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=40° in št. zarezovanj=3:</a:t>
            </a:r>
            <a:endParaRPr b="1" sz="4000">
              <a:solidFill>
                <a:srgbClr val="58595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A graph of a graph with colored lines&#10;&#10;Description automatically generated" id="290" name="Google Shape;290;p20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1258" y="2132721"/>
            <a:ext cx="4313338" cy="4081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aph of lines and numbers&#10;&#10;Description automatically generated" id="291" name="Google Shape;291;p20"/>
          <p:cNvPicPr preferRelativeResize="0"/>
          <p:nvPr>
            <p:ph idx="4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39449" y="2099388"/>
            <a:ext cx="3972635" cy="41112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1"/>
          <p:cNvSpPr txBox="1"/>
          <p:nvPr>
            <p:ph idx="1" type="body"/>
          </p:nvPr>
        </p:nvSpPr>
        <p:spPr>
          <a:xfrm>
            <a:off x="111989" y="1102662"/>
            <a:ext cx="5299755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2400"/>
              <a:buNone/>
            </a:pPr>
            <a:r>
              <a:rPr lang="sl-SI">
                <a:latin typeface="Times New Roman"/>
                <a:ea typeface="Times New Roman"/>
                <a:cs typeface="Times New Roman"/>
                <a:sym typeface="Times New Roman"/>
              </a:rPr>
              <a:t>a) model pripravljen za zarezovanje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7" name="Google Shape;297;p21"/>
          <p:cNvSpPr txBox="1"/>
          <p:nvPr>
            <p:ph idx="3" type="body"/>
          </p:nvPr>
        </p:nvSpPr>
        <p:spPr>
          <a:xfrm>
            <a:off x="6251506" y="1009358"/>
            <a:ext cx="6531429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2400"/>
              <a:buNone/>
            </a:pPr>
            <a:r>
              <a:rPr lang="sl-SI">
                <a:latin typeface="Times New Roman"/>
                <a:ea typeface="Times New Roman"/>
                <a:cs typeface="Times New Roman"/>
                <a:sym typeface="Times New Roman"/>
              </a:rPr>
              <a:t>b) krušno testo prpravljeno za zarezovanje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8" name="Google Shape;298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l-SI"/>
              <a:t>6.09.2024</a:t>
            </a:r>
            <a:endParaRPr/>
          </a:p>
        </p:txBody>
      </p:sp>
      <p:pic>
        <p:nvPicPr>
          <p:cNvPr descr="A graph of a graph with a grid&#10;&#10;Description automatically generated with medium confidence" id="299" name="Google Shape;299;p21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505" y="2025078"/>
            <a:ext cx="5979708" cy="41704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diagram of a graph&#10;&#10;Description automatically generated" id="300" name="Google Shape;300;p21"/>
          <p:cNvPicPr preferRelativeResize="0"/>
          <p:nvPr>
            <p:ph idx="4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67898" y="2180064"/>
            <a:ext cx="5752569" cy="3866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2"/>
          <p:cNvSpPr/>
          <p:nvPr/>
        </p:nvSpPr>
        <p:spPr>
          <a:xfrm flipH="1" rot="5400000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18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2"/>
          <p:cNvSpPr/>
          <p:nvPr/>
        </p:nvSpPr>
        <p:spPr>
          <a:xfrm rot="-54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rgbClr val="4472C4">
                  <a:alpha val="50196"/>
                </a:srgbClr>
              </a:gs>
              <a:gs pos="100000">
                <a:srgbClr val="1F3864">
                  <a:alpha val="0"/>
                </a:srgbClr>
              </a:gs>
            </a:gsLst>
            <a:lin ang="11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2"/>
          <p:cNvSpPr/>
          <p:nvPr/>
        </p:nvSpPr>
        <p:spPr>
          <a:xfrm flipH="1" rot="-5400000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8823"/>
                </a:srgbClr>
              </a:gs>
              <a:gs pos="69000">
                <a:srgbClr val="4472C4">
                  <a:alpha val="0"/>
                </a:srgbClr>
              </a:gs>
              <a:gs pos="100000">
                <a:srgbClr val="4472C4">
                  <a:alpha val="0"/>
                </a:srgbClr>
              </a:gs>
            </a:gsLst>
            <a:lin ang="13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2"/>
          <p:cNvSpPr/>
          <p:nvPr/>
        </p:nvSpPr>
        <p:spPr>
          <a:xfrm rot="6097846">
            <a:off x="-747355" y="1201312"/>
            <a:ext cx="4808302" cy="4088666"/>
          </a:xfrm>
          <a:custGeom>
            <a:rect b="b" l="l" r="r" t="t"/>
            <a:pathLst>
              <a:path extrusionOk="0" h="4088666" w="4808302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0">
                <a:srgbClr val="8DA9DB">
                  <a:alpha val="0"/>
                </a:srgbClr>
              </a:gs>
              <a:gs pos="39000">
                <a:srgbClr val="8DA9DB">
                  <a:alpha val="0"/>
                </a:srgbClr>
              </a:gs>
              <a:gs pos="100000">
                <a:srgbClr val="2F5496">
                  <a:alpha val="25882"/>
                </a:srgbClr>
              </a:gs>
            </a:gsLst>
            <a:lin ang="18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2"/>
          <p:cNvSpPr txBox="1"/>
          <p:nvPr>
            <p:ph type="title"/>
          </p:nvPr>
        </p:nvSpPr>
        <p:spPr>
          <a:xfrm>
            <a:off x="660041" y="2767106"/>
            <a:ext cx="2880828" cy="30719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Calibri"/>
              <a:buNone/>
            </a:pPr>
            <a:r>
              <a:rPr lang="sl-SI" sz="3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Eksperimentalna validacija</a:t>
            </a:r>
            <a:endParaRPr sz="31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machine with a blue object&#10;&#10;Description automatically generated with medium confidence" id="311" name="Google Shape;311;p22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45228" y="506955"/>
            <a:ext cx="8146772" cy="5784512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22"/>
          <p:cNvSpPr txBox="1"/>
          <p:nvPr>
            <p:ph idx="10" type="dt"/>
          </p:nvPr>
        </p:nvSpPr>
        <p:spPr>
          <a:xfrm>
            <a:off x="8970264" y="645566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sl-SI" sz="1100">
                <a:solidFill>
                  <a:srgbClr val="7F7F7F"/>
                </a:solidFill>
              </a:rPr>
              <a:t>6.09.2024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3"/>
          <p:cNvSpPr/>
          <p:nvPr/>
        </p:nvSpPr>
        <p:spPr>
          <a:xfrm>
            <a:off x="0" y="2"/>
            <a:ext cx="12192000" cy="685799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machine with a blue and grey machine&#10;&#10;Description automatically generated with medium confidence" id="318" name="Google Shape;318;p23"/>
          <p:cNvPicPr preferRelativeResize="0"/>
          <p:nvPr/>
        </p:nvPicPr>
        <p:blipFill rotWithShape="1">
          <a:blip r:embed="rId3">
            <a:alphaModFix/>
          </a:blip>
          <a:srcRect b="0" l="8818" r="5386" t="0"/>
          <a:stretch/>
        </p:blipFill>
        <p:spPr>
          <a:xfrm>
            <a:off x="20" y="431"/>
            <a:ext cx="8115280" cy="6408311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23"/>
          <p:cNvSpPr txBox="1"/>
          <p:nvPr>
            <p:ph idx="1" type="body"/>
          </p:nvPr>
        </p:nvSpPr>
        <p:spPr>
          <a:xfrm>
            <a:off x="8201025" y="671804"/>
            <a:ext cx="4114800" cy="55670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sl-SI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Tekoči trak zače.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sl-SI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Ko laserski senzor zana prisotnost testa, sporoči robotu da naj ustavi tekoči trak.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sl-SI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Kamera zajeme sliko.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sl-SI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Robot pošlje sporočilo računalniku da je kamera zajela sliko.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sl-SI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Računalnik sliko shrani v svoj pomnilnik in jo nato obdela.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sl-SI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Računalnik pošlje kalibrirane točke robotu.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sl-SI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Nato robot ponovno vklopi tekoči trak in začne zarezovati krušnega testa.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sl-SI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Ko je zarezovanje končano, robot zaustavi tekoči trak in se vrne v osnovni položaj.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3"/>
          <p:cNvSpPr/>
          <p:nvPr/>
        </p:nvSpPr>
        <p:spPr>
          <a:xfrm flipH="1">
            <a:off x="-1" y="6408741"/>
            <a:ext cx="12191998" cy="457202"/>
          </a:xfrm>
          <a:prstGeom prst="rect">
            <a:avLst/>
          </a:prstGeom>
          <a:gradFill>
            <a:gsLst>
              <a:gs pos="0">
                <a:srgbClr val="000000">
                  <a:alpha val="96078"/>
                </a:srgbClr>
              </a:gs>
              <a:gs pos="34000">
                <a:srgbClr val="000000">
                  <a:alpha val="96078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3"/>
          <p:cNvSpPr/>
          <p:nvPr/>
        </p:nvSpPr>
        <p:spPr>
          <a:xfrm flipH="1">
            <a:off x="-4" y="6408742"/>
            <a:ext cx="8115300" cy="449258"/>
          </a:xfrm>
          <a:prstGeom prst="rect">
            <a:avLst/>
          </a:prstGeom>
          <a:gradFill>
            <a:gsLst>
              <a:gs pos="0">
                <a:srgbClr val="2F5496">
                  <a:alpha val="58823"/>
                </a:srgbClr>
              </a:gs>
              <a:gs pos="28000">
                <a:srgbClr val="2F5496">
                  <a:alpha val="58823"/>
                </a:srgbClr>
              </a:gs>
              <a:gs pos="100000">
                <a:srgbClr val="000000">
                  <a:alpha val="70196"/>
                </a:srgbClr>
              </a:gs>
            </a:gsLst>
            <a:lin ang="11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3"/>
          <p:cNvSpPr txBox="1"/>
          <p:nvPr>
            <p:ph idx="10" type="dt"/>
          </p:nvPr>
        </p:nvSpPr>
        <p:spPr>
          <a:xfrm>
            <a:off x="8961120" y="64593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sl-SI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6.09.2024</a:t>
            </a:r>
            <a:endParaRPr sz="11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l-SI"/>
              <a:t>6.09.2024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8" name="Google Shape;328;p24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60" y="16023"/>
            <a:ext cx="12192000" cy="68521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822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5"/>
          <p:cNvSpPr/>
          <p:nvPr/>
        </p:nvSpPr>
        <p:spPr>
          <a:xfrm>
            <a:off x="1114425" y="0"/>
            <a:ext cx="9963150" cy="6858000"/>
          </a:xfrm>
          <a:custGeom>
            <a:rect b="b" l="l" r="r" t="t"/>
            <a:pathLst>
              <a:path extrusionOk="0" h="6858000" w="996315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solidFill>
            <a:schemeClr val="lt1"/>
          </a:solidFill>
          <a:ln cap="flat" cmpd="sng" w="9525">
            <a:solidFill>
              <a:srgbClr val="EFEFE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101600" sx="102000" rotWithShape="0" algn="ctr" sy="102000">
              <a:srgbClr val="D8D8D8">
                <a:alpha val="5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loaf of bread on a blue surface&#10;&#10;Description automatically generated" id="335" name="Google Shape;335;p2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9190" l="0" r="1" t="17484"/>
          <a:stretch/>
        </p:blipFill>
        <p:spPr>
          <a:xfrm>
            <a:off x="1114426" y="10"/>
            <a:ext cx="9963149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25"/>
          <p:cNvSpPr txBox="1"/>
          <p:nvPr>
            <p:ph idx="10" type="dt"/>
          </p:nvPr>
        </p:nvSpPr>
        <p:spPr>
          <a:xfrm>
            <a:off x="838200" y="6356350"/>
            <a:ext cx="10629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l-SI">
                <a:solidFill>
                  <a:srgbClr val="7F7F7F"/>
                </a:solidFill>
              </a:rPr>
              <a:t>6.09.2024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l-SI"/>
              <a:t>6.09.2024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42" name="Google Shape;342;p26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863"/>
            <a:ext cx="12192000" cy="68521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7"/>
          <p:cNvSpPr/>
          <p:nvPr/>
        </p:nvSpPr>
        <p:spPr>
          <a:xfrm>
            <a:off x="1114425" y="0"/>
            <a:ext cx="9963150" cy="6858000"/>
          </a:xfrm>
          <a:custGeom>
            <a:rect b="b" l="l" r="r" t="t"/>
            <a:pathLst>
              <a:path extrusionOk="0" h="6858000" w="996315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solidFill>
            <a:schemeClr val="lt1"/>
          </a:solidFill>
          <a:ln cap="flat" cmpd="sng" w="9525">
            <a:solidFill>
              <a:srgbClr val="EFEFE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101600" sx="102000" rotWithShape="0" algn="ctr" sy="102000">
              <a:srgbClr val="D8D8D8">
                <a:alpha val="5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loaf of bread on a blue surface&#10;&#10;Description automatically generated" id="349" name="Google Shape;349;p2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7609" l="0" r="1" t="19065"/>
          <a:stretch/>
        </p:blipFill>
        <p:spPr>
          <a:xfrm>
            <a:off x="1114426" y="10"/>
            <a:ext cx="9963149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27"/>
          <p:cNvSpPr txBox="1"/>
          <p:nvPr>
            <p:ph idx="10" type="dt"/>
          </p:nvPr>
        </p:nvSpPr>
        <p:spPr>
          <a:xfrm>
            <a:off x="838200" y="6356350"/>
            <a:ext cx="10629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l-SI">
                <a:solidFill>
                  <a:srgbClr val="7F7F7F"/>
                </a:solidFill>
              </a:rPr>
              <a:t>6.09.2024</a:t>
            </a:r>
            <a:endParaRPr>
              <a:solidFill>
                <a:srgbClr val="7F7F7F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28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84880" y="9465"/>
            <a:ext cx="3850640" cy="6848535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l-SI"/>
              <a:t>6.09.2024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822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9"/>
          <p:cNvSpPr/>
          <p:nvPr/>
        </p:nvSpPr>
        <p:spPr>
          <a:xfrm>
            <a:off x="1114425" y="0"/>
            <a:ext cx="9963150" cy="6858000"/>
          </a:xfrm>
          <a:custGeom>
            <a:rect b="b" l="l" r="r" t="t"/>
            <a:pathLst>
              <a:path extrusionOk="0" h="6858000" w="996315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solidFill>
            <a:schemeClr val="lt1"/>
          </a:solidFill>
          <a:ln cap="flat" cmpd="sng" w="9525">
            <a:solidFill>
              <a:srgbClr val="EFEFE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101600" sx="102000" rotWithShape="0" algn="ctr" sy="102000">
              <a:srgbClr val="D8D8D8">
                <a:alpha val="5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loaf of dough on a blue surface&#10;&#10;Description automatically generated" id="363" name="Google Shape;363;p2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4403" l="0" r="1" t="1946"/>
          <a:stretch/>
        </p:blipFill>
        <p:spPr>
          <a:xfrm>
            <a:off x="1114426" y="10"/>
            <a:ext cx="9963149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29"/>
          <p:cNvSpPr txBox="1"/>
          <p:nvPr>
            <p:ph idx="10" type="dt"/>
          </p:nvPr>
        </p:nvSpPr>
        <p:spPr>
          <a:xfrm>
            <a:off x="838200" y="6356350"/>
            <a:ext cx="10629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l-SI">
                <a:solidFill>
                  <a:srgbClr val="7F7F7F"/>
                </a:solidFill>
              </a:rPr>
              <a:t>6.09.2024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chemeClr val="lt1"/>
        </a:solid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0"/>
          <p:cNvSpPr/>
          <p:nvPr/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30"/>
          <p:cNvSpPr/>
          <p:nvPr/>
        </p:nvSpPr>
        <p:spPr>
          <a:xfrm>
            <a:off x="646745" y="640080"/>
            <a:ext cx="10920415" cy="5577818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C8CACA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7150" rotWithShape="0" algn="t" dir="5400000" dist="19050">
              <a:srgbClr val="000000">
                <a:alpha val="6313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30"/>
          <p:cNvSpPr/>
          <p:nvPr/>
        </p:nvSpPr>
        <p:spPr>
          <a:xfrm>
            <a:off x="968024" y="960109"/>
            <a:ext cx="10277856" cy="493776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30"/>
          <p:cNvSpPr txBox="1"/>
          <p:nvPr>
            <p:ph type="title"/>
          </p:nvPr>
        </p:nvSpPr>
        <p:spPr>
          <a:xfrm>
            <a:off x="1452656" y="1444741"/>
            <a:ext cx="9357865" cy="10419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03127"/>
              </a:buClr>
              <a:buSzPts val="4000"/>
              <a:buFont typeface="Arial"/>
              <a:buNone/>
            </a:pPr>
            <a:r>
              <a:rPr lang="sl-SI" sz="4000"/>
              <a:t>Možne izboljšave za prihodnosti</a:t>
            </a:r>
            <a:endParaRPr sz="4000"/>
          </a:p>
        </p:txBody>
      </p:sp>
      <p:sp>
        <p:nvSpPr>
          <p:cNvPr id="373" name="Google Shape;373;p30"/>
          <p:cNvSpPr txBox="1"/>
          <p:nvPr>
            <p:ph idx="1" type="body"/>
          </p:nvPr>
        </p:nvSpPr>
        <p:spPr>
          <a:xfrm>
            <a:off x="1452656" y="2701427"/>
            <a:ext cx="4483324" cy="26999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2000"/>
              <a:buNone/>
            </a:pPr>
            <a:r>
              <a:rPr b="1" lang="sl-SI" sz="2000">
                <a:latin typeface="Times New Roman"/>
                <a:ea typeface="Times New Roman"/>
                <a:cs typeface="Times New Roman"/>
                <a:sym typeface="Times New Roman"/>
              </a:rPr>
              <a:t>Strojno učenje: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8595B"/>
              </a:buClr>
              <a:buSzPts val="2000"/>
              <a:buChar char="•"/>
            </a:pPr>
            <a:r>
              <a:rPr lang="sl-SI" sz="2000">
                <a:latin typeface="Times New Roman"/>
                <a:ea typeface="Times New Roman"/>
                <a:cs typeface="Times New Roman"/>
                <a:sym typeface="Times New Roman"/>
              </a:rPr>
              <a:t>Sistem se bo sčasoma učil iz prejšnih izkušenj in na podlagi tega bo optimiziral rezalne poti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8595B"/>
              </a:buClr>
              <a:buSzPts val="2000"/>
              <a:buNone/>
            </a:pPr>
            <a:r>
              <a:t/>
            </a:r>
            <a:endParaRPr sz="2000"/>
          </a:p>
        </p:txBody>
      </p:sp>
      <p:sp>
        <p:nvSpPr>
          <p:cNvPr id="374" name="Google Shape;374;p30"/>
          <p:cNvSpPr txBox="1"/>
          <p:nvPr>
            <p:ph idx="2" type="body"/>
          </p:nvPr>
        </p:nvSpPr>
        <p:spPr>
          <a:xfrm>
            <a:off x="6256020" y="2701427"/>
            <a:ext cx="4554501" cy="26999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2000"/>
              <a:buNone/>
            </a:pPr>
            <a:r>
              <a:rPr b="1" lang="sl-SI" sz="2000">
                <a:latin typeface="Times New Roman"/>
                <a:ea typeface="Times New Roman"/>
                <a:cs typeface="Times New Roman"/>
                <a:sym typeface="Times New Roman"/>
              </a:rPr>
              <a:t>Globoko učenje: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8595B"/>
              </a:buClr>
              <a:buSzPts val="2000"/>
              <a:buChar char="•"/>
            </a:pPr>
            <a:r>
              <a:rPr lang="sl-SI" sz="2000">
                <a:latin typeface="Times New Roman"/>
                <a:ea typeface="Times New Roman"/>
                <a:cs typeface="Times New Roman"/>
                <a:sym typeface="Times New Roman"/>
              </a:rPr>
              <a:t>Temelji na nevronskih mrežah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8595B"/>
              </a:buClr>
              <a:buSzPts val="2000"/>
              <a:buChar char="•"/>
            </a:pPr>
            <a:r>
              <a:rPr lang="sl-SI" sz="2000">
                <a:latin typeface="Times New Roman"/>
                <a:ea typeface="Times New Roman"/>
                <a:cs typeface="Times New Roman"/>
                <a:sym typeface="Times New Roman"/>
              </a:rPr>
              <a:t>Lahko izboljša filtriranje oblaka točk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5" name="Google Shape;375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l-SI">
                <a:solidFill>
                  <a:srgbClr val="595959"/>
                </a:solidFill>
              </a:rPr>
              <a:t>6.09.2024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1"/>
          <p:cNvSpPr txBox="1"/>
          <p:nvPr>
            <p:ph type="title"/>
          </p:nvPr>
        </p:nvSpPr>
        <p:spPr>
          <a:xfrm>
            <a:off x="2032518" y="2670534"/>
            <a:ext cx="9304176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03127"/>
              </a:buClr>
              <a:buSzPts val="4400"/>
              <a:buFont typeface="Arial"/>
              <a:buNone/>
            </a:pPr>
            <a:r>
              <a:rPr lang="sl-SI"/>
              <a:t>Zahvaljujem vam se za pozornost </a:t>
            </a:r>
            <a:endParaRPr/>
          </a:p>
        </p:txBody>
      </p:sp>
      <p:sp>
        <p:nvSpPr>
          <p:cNvPr id="381" name="Google Shape;381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l-SI"/>
              <a:t>6.09.2024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</cp:coreProperties>
</file>